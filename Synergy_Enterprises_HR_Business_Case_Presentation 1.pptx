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7" r:id="rId9"/>
    <p:sldId id="268" r:id="rId10"/>
    <p:sldId id="269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FEA5A-F1DC-D803-E61B-67CC5D385C14}" v="47" dt="2026-01-19T18:00:03.6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18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thlyn Tetteh" userId="9962516c28816743" providerId="Windows Live" clId="Web-{19BFEA5A-F1DC-D803-E61B-67CC5D385C14}"/>
    <pc:docChg chg="modSld">
      <pc:chgData name="Sethlyn Tetteh" userId="9962516c28816743" providerId="Windows Live" clId="Web-{19BFEA5A-F1DC-D803-E61B-67CC5D385C14}" dt="2026-01-19T18:00:01.384" v="46" actId="20577"/>
      <pc:docMkLst>
        <pc:docMk/>
      </pc:docMkLst>
      <pc:sldChg chg="modSp">
        <pc:chgData name="Sethlyn Tetteh" userId="9962516c28816743" providerId="Windows Live" clId="Web-{19BFEA5A-F1DC-D803-E61B-67CC5D385C14}" dt="2026-01-19T18:00:01.384" v="46" actId="20577"/>
        <pc:sldMkLst>
          <pc:docMk/>
          <pc:sldMk cId="0" sldId="256"/>
        </pc:sldMkLst>
        <pc:spChg chg="mod">
          <ac:chgData name="Sethlyn Tetteh" userId="9962516c28816743" providerId="Windows Live" clId="Web-{19BFEA5A-F1DC-D803-E61B-67CC5D385C14}" dt="2026-01-19T18:00:01.384" v="46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137600-6E20-4FB2-89B7-ADF860490C3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98B2E8-4C8D-41A2-8F93-C55AFE939E2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Employee resistance to change</a:t>
          </a:r>
          <a:endParaRPr lang="en-US"/>
        </a:p>
      </dgm:t>
    </dgm:pt>
    <dgm:pt modelId="{A998CEF7-A0FD-4FB8-B26A-A248495CCD78}" type="parTrans" cxnId="{1BECF315-4335-407B-B082-371BD384D710}">
      <dgm:prSet/>
      <dgm:spPr/>
      <dgm:t>
        <a:bodyPr/>
        <a:lstStyle/>
        <a:p>
          <a:endParaRPr lang="en-US"/>
        </a:p>
      </dgm:t>
    </dgm:pt>
    <dgm:pt modelId="{ACA7BAA5-7064-415F-84DA-E119F73B35E4}" type="sibTrans" cxnId="{1BECF315-4335-407B-B082-371BD384D710}">
      <dgm:prSet/>
      <dgm:spPr/>
      <dgm:t>
        <a:bodyPr/>
        <a:lstStyle/>
        <a:p>
          <a:endParaRPr lang="en-US"/>
        </a:p>
      </dgm:t>
    </dgm:pt>
    <dgm:pt modelId="{D1CB3229-53C3-4F13-B2A2-C8C5B125760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Data Migration errors</a:t>
          </a:r>
          <a:endParaRPr lang="en-US"/>
        </a:p>
      </dgm:t>
    </dgm:pt>
    <dgm:pt modelId="{F796DB1C-DFBB-4A77-9E52-FD0D29DD64F9}" type="parTrans" cxnId="{DD1C4910-3ADE-4798-881B-FA98B08C9FEE}">
      <dgm:prSet/>
      <dgm:spPr/>
      <dgm:t>
        <a:bodyPr/>
        <a:lstStyle/>
        <a:p>
          <a:endParaRPr lang="en-US"/>
        </a:p>
      </dgm:t>
    </dgm:pt>
    <dgm:pt modelId="{8704FE81-A640-4109-8A83-DF1F78EC8D6E}" type="sibTrans" cxnId="{DD1C4910-3ADE-4798-881B-FA98B08C9FEE}">
      <dgm:prSet/>
      <dgm:spPr/>
      <dgm:t>
        <a:bodyPr/>
        <a:lstStyle/>
        <a:p>
          <a:endParaRPr lang="en-US"/>
        </a:p>
      </dgm:t>
    </dgm:pt>
    <dgm:pt modelId="{93AC168C-A1A0-435F-AB6C-D76F53C8A10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Integration issues</a:t>
          </a:r>
          <a:endParaRPr lang="en-US"/>
        </a:p>
      </dgm:t>
    </dgm:pt>
    <dgm:pt modelId="{8D984821-6572-4688-8B1E-3733D50EE4A9}" type="parTrans" cxnId="{6FE9E289-B3AF-4114-AABF-1E87C5009E73}">
      <dgm:prSet/>
      <dgm:spPr/>
      <dgm:t>
        <a:bodyPr/>
        <a:lstStyle/>
        <a:p>
          <a:endParaRPr lang="en-US"/>
        </a:p>
      </dgm:t>
    </dgm:pt>
    <dgm:pt modelId="{4CD061DA-BA52-440B-AD77-310E44315159}" type="sibTrans" cxnId="{6FE9E289-B3AF-4114-AABF-1E87C5009E73}">
      <dgm:prSet/>
      <dgm:spPr/>
      <dgm:t>
        <a:bodyPr/>
        <a:lstStyle/>
        <a:p>
          <a:endParaRPr lang="en-US"/>
        </a:p>
      </dgm:t>
    </dgm:pt>
    <dgm:pt modelId="{D533CCEC-D58B-4806-9635-8BC7797BACD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Cost Overruns</a:t>
          </a:r>
          <a:endParaRPr lang="en-US"/>
        </a:p>
      </dgm:t>
    </dgm:pt>
    <dgm:pt modelId="{36248ABC-8215-4C0E-B00D-AF9AF9C85CD5}" type="parTrans" cxnId="{48F6B529-BB53-458C-9994-0E2C66FB96FA}">
      <dgm:prSet/>
      <dgm:spPr/>
      <dgm:t>
        <a:bodyPr/>
        <a:lstStyle/>
        <a:p>
          <a:endParaRPr lang="en-US"/>
        </a:p>
      </dgm:t>
    </dgm:pt>
    <dgm:pt modelId="{24F6AC42-5886-4B0F-8D83-2D96E4607824}" type="sibTrans" cxnId="{48F6B529-BB53-458C-9994-0E2C66FB96FA}">
      <dgm:prSet/>
      <dgm:spPr/>
      <dgm:t>
        <a:bodyPr/>
        <a:lstStyle/>
        <a:p>
          <a:endParaRPr lang="en-US"/>
        </a:p>
      </dgm:t>
    </dgm:pt>
    <dgm:pt modelId="{E60ECCB7-1788-48E4-8987-F922125CF33A}" type="pres">
      <dgm:prSet presAssocID="{8A137600-6E20-4FB2-89B7-ADF860490C3B}" presName="root" presStyleCnt="0">
        <dgm:presLayoutVars>
          <dgm:dir/>
          <dgm:resizeHandles val="exact"/>
        </dgm:presLayoutVars>
      </dgm:prSet>
      <dgm:spPr/>
    </dgm:pt>
    <dgm:pt modelId="{B4EC975B-A6EE-43F3-80E0-1085F610562B}" type="pres">
      <dgm:prSet presAssocID="{3698B2E8-4C8D-41A2-8F93-C55AFE939E2D}" presName="compNode" presStyleCnt="0"/>
      <dgm:spPr/>
    </dgm:pt>
    <dgm:pt modelId="{581556D7-83F5-44D3-8250-73D721234A58}" type="pres">
      <dgm:prSet presAssocID="{3698B2E8-4C8D-41A2-8F93-C55AFE939E2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of men"/>
        </a:ext>
      </dgm:extLst>
    </dgm:pt>
    <dgm:pt modelId="{2E4A86CE-0CC7-493E-AC31-9710DE2619FF}" type="pres">
      <dgm:prSet presAssocID="{3698B2E8-4C8D-41A2-8F93-C55AFE939E2D}" presName="spaceRect" presStyleCnt="0"/>
      <dgm:spPr/>
    </dgm:pt>
    <dgm:pt modelId="{4F3315F0-8E0D-462B-ACFC-551F385EEEB0}" type="pres">
      <dgm:prSet presAssocID="{3698B2E8-4C8D-41A2-8F93-C55AFE939E2D}" presName="textRect" presStyleLbl="revTx" presStyleIdx="0" presStyleCnt="4">
        <dgm:presLayoutVars>
          <dgm:chMax val="1"/>
          <dgm:chPref val="1"/>
        </dgm:presLayoutVars>
      </dgm:prSet>
      <dgm:spPr/>
    </dgm:pt>
    <dgm:pt modelId="{93CB65FA-26A5-4F7D-9658-D7AB1B2E6E64}" type="pres">
      <dgm:prSet presAssocID="{ACA7BAA5-7064-415F-84DA-E119F73B35E4}" presName="sibTrans" presStyleCnt="0"/>
      <dgm:spPr/>
    </dgm:pt>
    <dgm:pt modelId="{B6B27360-B987-49EF-BE57-12EB415ADC59}" type="pres">
      <dgm:prSet presAssocID="{D1CB3229-53C3-4F13-B2A2-C8C5B1257607}" presName="compNode" presStyleCnt="0"/>
      <dgm:spPr/>
    </dgm:pt>
    <dgm:pt modelId="{C51071E5-489C-495F-B308-9CE5B62ECBD8}" type="pres">
      <dgm:prSet presAssocID="{D1CB3229-53C3-4F13-B2A2-C8C5B12576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86636AA-3F19-481E-8264-DE4D10E49EBB}" type="pres">
      <dgm:prSet presAssocID="{D1CB3229-53C3-4F13-B2A2-C8C5B1257607}" presName="spaceRect" presStyleCnt="0"/>
      <dgm:spPr/>
    </dgm:pt>
    <dgm:pt modelId="{D11C921A-C049-4C2D-A6A6-561CF6D77EBC}" type="pres">
      <dgm:prSet presAssocID="{D1CB3229-53C3-4F13-B2A2-C8C5B1257607}" presName="textRect" presStyleLbl="revTx" presStyleIdx="1" presStyleCnt="4">
        <dgm:presLayoutVars>
          <dgm:chMax val="1"/>
          <dgm:chPref val="1"/>
        </dgm:presLayoutVars>
      </dgm:prSet>
      <dgm:spPr/>
    </dgm:pt>
    <dgm:pt modelId="{1133F26F-49F8-453F-92A5-F2D9A6145316}" type="pres">
      <dgm:prSet presAssocID="{8704FE81-A640-4109-8A83-DF1F78EC8D6E}" presName="sibTrans" presStyleCnt="0"/>
      <dgm:spPr/>
    </dgm:pt>
    <dgm:pt modelId="{7B5ABE3A-69A8-4040-9A9A-32127B078178}" type="pres">
      <dgm:prSet presAssocID="{93AC168C-A1A0-435F-AB6C-D76F53C8A107}" presName="compNode" presStyleCnt="0"/>
      <dgm:spPr/>
    </dgm:pt>
    <dgm:pt modelId="{6559737E-C98F-4200-B681-7870A994C32E}" type="pres">
      <dgm:prSet presAssocID="{93AC168C-A1A0-435F-AB6C-D76F53C8A10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4239CD5A-4442-43A2-9118-477B63B50CAF}" type="pres">
      <dgm:prSet presAssocID="{93AC168C-A1A0-435F-AB6C-D76F53C8A107}" presName="spaceRect" presStyleCnt="0"/>
      <dgm:spPr/>
    </dgm:pt>
    <dgm:pt modelId="{770FC054-E400-4C26-856C-48320848197B}" type="pres">
      <dgm:prSet presAssocID="{93AC168C-A1A0-435F-AB6C-D76F53C8A107}" presName="textRect" presStyleLbl="revTx" presStyleIdx="2" presStyleCnt="4">
        <dgm:presLayoutVars>
          <dgm:chMax val="1"/>
          <dgm:chPref val="1"/>
        </dgm:presLayoutVars>
      </dgm:prSet>
      <dgm:spPr/>
    </dgm:pt>
    <dgm:pt modelId="{5E2A33B9-110D-428F-BC48-4BA02D72B970}" type="pres">
      <dgm:prSet presAssocID="{4CD061DA-BA52-440B-AD77-310E44315159}" presName="sibTrans" presStyleCnt="0"/>
      <dgm:spPr/>
    </dgm:pt>
    <dgm:pt modelId="{E77241BA-3E64-4809-AD50-AA59E3ABB477}" type="pres">
      <dgm:prSet presAssocID="{D533CCEC-D58B-4806-9635-8BC7797BACD2}" presName="compNode" presStyleCnt="0"/>
      <dgm:spPr/>
    </dgm:pt>
    <dgm:pt modelId="{AC6830D0-3B1A-4B3F-964D-40DB96B50EDD}" type="pres">
      <dgm:prSet presAssocID="{D533CCEC-D58B-4806-9635-8BC7797BACD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8530340-BBD0-4F1E-B2F1-16B2FE37FB9F}" type="pres">
      <dgm:prSet presAssocID="{D533CCEC-D58B-4806-9635-8BC7797BACD2}" presName="spaceRect" presStyleCnt="0"/>
      <dgm:spPr/>
    </dgm:pt>
    <dgm:pt modelId="{88B92DF1-3701-4FC9-9536-A39B6987B6F2}" type="pres">
      <dgm:prSet presAssocID="{D533CCEC-D58B-4806-9635-8BC7797BACD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D1C4910-3ADE-4798-881B-FA98B08C9FEE}" srcId="{8A137600-6E20-4FB2-89B7-ADF860490C3B}" destId="{D1CB3229-53C3-4F13-B2A2-C8C5B1257607}" srcOrd="1" destOrd="0" parTransId="{F796DB1C-DFBB-4A77-9E52-FD0D29DD64F9}" sibTransId="{8704FE81-A640-4109-8A83-DF1F78EC8D6E}"/>
    <dgm:cxn modelId="{1BECF315-4335-407B-B082-371BD384D710}" srcId="{8A137600-6E20-4FB2-89B7-ADF860490C3B}" destId="{3698B2E8-4C8D-41A2-8F93-C55AFE939E2D}" srcOrd="0" destOrd="0" parTransId="{A998CEF7-A0FD-4FB8-B26A-A248495CCD78}" sibTransId="{ACA7BAA5-7064-415F-84DA-E119F73B35E4}"/>
    <dgm:cxn modelId="{48F6B529-BB53-458C-9994-0E2C66FB96FA}" srcId="{8A137600-6E20-4FB2-89B7-ADF860490C3B}" destId="{D533CCEC-D58B-4806-9635-8BC7797BACD2}" srcOrd="3" destOrd="0" parTransId="{36248ABC-8215-4C0E-B00D-AF9AF9C85CD5}" sibTransId="{24F6AC42-5886-4B0F-8D83-2D96E4607824}"/>
    <dgm:cxn modelId="{67747640-4F3A-484A-8200-FB938DCFF824}" type="presOf" srcId="{D533CCEC-D58B-4806-9635-8BC7797BACD2}" destId="{88B92DF1-3701-4FC9-9536-A39B6987B6F2}" srcOrd="0" destOrd="0" presId="urn:microsoft.com/office/officeart/2018/2/layout/IconLabelList"/>
    <dgm:cxn modelId="{4D86B85D-8D0A-45A8-BA6F-7C8D6F1CA7BE}" type="presOf" srcId="{D1CB3229-53C3-4F13-B2A2-C8C5B1257607}" destId="{D11C921A-C049-4C2D-A6A6-561CF6D77EBC}" srcOrd="0" destOrd="0" presId="urn:microsoft.com/office/officeart/2018/2/layout/IconLabelList"/>
    <dgm:cxn modelId="{6FE9E289-B3AF-4114-AABF-1E87C5009E73}" srcId="{8A137600-6E20-4FB2-89B7-ADF860490C3B}" destId="{93AC168C-A1A0-435F-AB6C-D76F53C8A107}" srcOrd="2" destOrd="0" parTransId="{8D984821-6572-4688-8B1E-3733D50EE4A9}" sibTransId="{4CD061DA-BA52-440B-AD77-310E44315159}"/>
    <dgm:cxn modelId="{AD3FEAA9-8506-4847-A8C9-D05B98591409}" type="presOf" srcId="{8A137600-6E20-4FB2-89B7-ADF860490C3B}" destId="{E60ECCB7-1788-48E4-8987-F922125CF33A}" srcOrd="0" destOrd="0" presId="urn:microsoft.com/office/officeart/2018/2/layout/IconLabelList"/>
    <dgm:cxn modelId="{E85029E9-A488-4D1A-8BB6-F9D3D8CBB89D}" type="presOf" srcId="{93AC168C-A1A0-435F-AB6C-D76F53C8A107}" destId="{770FC054-E400-4C26-856C-48320848197B}" srcOrd="0" destOrd="0" presId="urn:microsoft.com/office/officeart/2018/2/layout/IconLabelList"/>
    <dgm:cxn modelId="{BCFE59F4-8071-44BA-B436-4AB75C5DE3C7}" type="presOf" srcId="{3698B2E8-4C8D-41A2-8F93-C55AFE939E2D}" destId="{4F3315F0-8E0D-462B-ACFC-551F385EEEB0}" srcOrd="0" destOrd="0" presId="urn:microsoft.com/office/officeart/2018/2/layout/IconLabelList"/>
    <dgm:cxn modelId="{822FB96A-8D27-46DB-9DB0-A20D170275B4}" type="presParOf" srcId="{E60ECCB7-1788-48E4-8987-F922125CF33A}" destId="{B4EC975B-A6EE-43F3-80E0-1085F610562B}" srcOrd="0" destOrd="0" presId="urn:microsoft.com/office/officeart/2018/2/layout/IconLabelList"/>
    <dgm:cxn modelId="{120A926F-DC96-49DE-985B-2055EC87FE1E}" type="presParOf" srcId="{B4EC975B-A6EE-43F3-80E0-1085F610562B}" destId="{581556D7-83F5-44D3-8250-73D721234A58}" srcOrd="0" destOrd="0" presId="urn:microsoft.com/office/officeart/2018/2/layout/IconLabelList"/>
    <dgm:cxn modelId="{4BB6D99A-46AF-43A7-9443-D0F9F8E99477}" type="presParOf" srcId="{B4EC975B-A6EE-43F3-80E0-1085F610562B}" destId="{2E4A86CE-0CC7-493E-AC31-9710DE2619FF}" srcOrd="1" destOrd="0" presId="urn:microsoft.com/office/officeart/2018/2/layout/IconLabelList"/>
    <dgm:cxn modelId="{7490A3A5-8F40-4286-B587-F7208C819D6F}" type="presParOf" srcId="{B4EC975B-A6EE-43F3-80E0-1085F610562B}" destId="{4F3315F0-8E0D-462B-ACFC-551F385EEEB0}" srcOrd="2" destOrd="0" presId="urn:microsoft.com/office/officeart/2018/2/layout/IconLabelList"/>
    <dgm:cxn modelId="{1E91B42A-329B-49A0-9A2D-C415E6120D3A}" type="presParOf" srcId="{E60ECCB7-1788-48E4-8987-F922125CF33A}" destId="{93CB65FA-26A5-4F7D-9658-D7AB1B2E6E64}" srcOrd="1" destOrd="0" presId="urn:microsoft.com/office/officeart/2018/2/layout/IconLabelList"/>
    <dgm:cxn modelId="{F8C72E00-EF2B-476B-8446-2AA4638906F7}" type="presParOf" srcId="{E60ECCB7-1788-48E4-8987-F922125CF33A}" destId="{B6B27360-B987-49EF-BE57-12EB415ADC59}" srcOrd="2" destOrd="0" presId="urn:microsoft.com/office/officeart/2018/2/layout/IconLabelList"/>
    <dgm:cxn modelId="{B3B95E49-5DB1-4ADD-927E-1125A4459D16}" type="presParOf" srcId="{B6B27360-B987-49EF-BE57-12EB415ADC59}" destId="{C51071E5-489C-495F-B308-9CE5B62ECBD8}" srcOrd="0" destOrd="0" presId="urn:microsoft.com/office/officeart/2018/2/layout/IconLabelList"/>
    <dgm:cxn modelId="{7F1B0E8F-B7F4-490C-88B2-44F40B258001}" type="presParOf" srcId="{B6B27360-B987-49EF-BE57-12EB415ADC59}" destId="{186636AA-3F19-481E-8264-DE4D10E49EBB}" srcOrd="1" destOrd="0" presId="urn:microsoft.com/office/officeart/2018/2/layout/IconLabelList"/>
    <dgm:cxn modelId="{954334C7-CFB6-4152-AB4B-716FCDCB38BF}" type="presParOf" srcId="{B6B27360-B987-49EF-BE57-12EB415ADC59}" destId="{D11C921A-C049-4C2D-A6A6-561CF6D77EBC}" srcOrd="2" destOrd="0" presId="urn:microsoft.com/office/officeart/2018/2/layout/IconLabelList"/>
    <dgm:cxn modelId="{D6D3CAA3-B864-4A04-8262-6A67B456E683}" type="presParOf" srcId="{E60ECCB7-1788-48E4-8987-F922125CF33A}" destId="{1133F26F-49F8-453F-92A5-F2D9A6145316}" srcOrd="3" destOrd="0" presId="urn:microsoft.com/office/officeart/2018/2/layout/IconLabelList"/>
    <dgm:cxn modelId="{6909C899-A6C4-41B4-AD3F-F6C968D9ACD6}" type="presParOf" srcId="{E60ECCB7-1788-48E4-8987-F922125CF33A}" destId="{7B5ABE3A-69A8-4040-9A9A-32127B078178}" srcOrd="4" destOrd="0" presId="urn:microsoft.com/office/officeart/2018/2/layout/IconLabelList"/>
    <dgm:cxn modelId="{3255ECC3-F57D-4681-BD50-812C128DB3F2}" type="presParOf" srcId="{7B5ABE3A-69A8-4040-9A9A-32127B078178}" destId="{6559737E-C98F-4200-B681-7870A994C32E}" srcOrd="0" destOrd="0" presId="urn:microsoft.com/office/officeart/2018/2/layout/IconLabelList"/>
    <dgm:cxn modelId="{BD3D99F1-FE92-44CE-81B7-C9D2479EADA7}" type="presParOf" srcId="{7B5ABE3A-69A8-4040-9A9A-32127B078178}" destId="{4239CD5A-4442-43A2-9118-477B63B50CAF}" srcOrd="1" destOrd="0" presId="urn:microsoft.com/office/officeart/2018/2/layout/IconLabelList"/>
    <dgm:cxn modelId="{74A38269-821F-4072-82A0-D4B6DF5A143E}" type="presParOf" srcId="{7B5ABE3A-69A8-4040-9A9A-32127B078178}" destId="{770FC054-E400-4C26-856C-48320848197B}" srcOrd="2" destOrd="0" presId="urn:microsoft.com/office/officeart/2018/2/layout/IconLabelList"/>
    <dgm:cxn modelId="{7BF44EAA-364A-4642-9709-5FE00998571F}" type="presParOf" srcId="{E60ECCB7-1788-48E4-8987-F922125CF33A}" destId="{5E2A33B9-110D-428F-BC48-4BA02D72B970}" srcOrd="5" destOrd="0" presId="urn:microsoft.com/office/officeart/2018/2/layout/IconLabelList"/>
    <dgm:cxn modelId="{F0BBFE54-FF06-4ACC-9F2C-79216DDA42AD}" type="presParOf" srcId="{E60ECCB7-1788-48E4-8987-F922125CF33A}" destId="{E77241BA-3E64-4809-AD50-AA59E3ABB477}" srcOrd="6" destOrd="0" presId="urn:microsoft.com/office/officeart/2018/2/layout/IconLabelList"/>
    <dgm:cxn modelId="{EFE2EB0E-05A0-476E-BB06-51D3099F0D0A}" type="presParOf" srcId="{E77241BA-3E64-4809-AD50-AA59E3ABB477}" destId="{AC6830D0-3B1A-4B3F-964D-40DB96B50EDD}" srcOrd="0" destOrd="0" presId="urn:microsoft.com/office/officeart/2018/2/layout/IconLabelList"/>
    <dgm:cxn modelId="{7792238C-6BB3-454F-8551-ECB720C68BD8}" type="presParOf" srcId="{E77241BA-3E64-4809-AD50-AA59E3ABB477}" destId="{C8530340-BBD0-4F1E-B2F1-16B2FE37FB9F}" srcOrd="1" destOrd="0" presId="urn:microsoft.com/office/officeart/2018/2/layout/IconLabelList"/>
    <dgm:cxn modelId="{694D8AFF-3962-4351-A6C7-2070E06FC469}" type="presParOf" srcId="{E77241BA-3E64-4809-AD50-AA59E3ABB477}" destId="{88B92DF1-3701-4FC9-9536-A39B6987B6F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556D7-83F5-44D3-8250-73D721234A58}">
      <dsp:nvSpPr>
        <dsp:cNvPr id="0" name=""/>
        <dsp:cNvSpPr/>
      </dsp:nvSpPr>
      <dsp:spPr>
        <a:xfrm>
          <a:off x="708985" y="160143"/>
          <a:ext cx="726152" cy="7261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3315F0-8E0D-462B-ACFC-551F385EEEB0}">
      <dsp:nvSpPr>
        <dsp:cNvPr id="0" name=""/>
        <dsp:cNvSpPr/>
      </dsp:nvSpPr>
      <dsp:spPr>
        <a:xfrm>
          <a:off x="265225" y="1128466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Employee resistance to change</a:t>
          </a:r>
          <a:endParaRPr lang="en-US" sz="1500" kern="1200"/>
        </a:p>
      </dsp:txBody>
      <dsp:txXfrm>
        <a:off x="265225" y="1128466"/>
        <a:ext cx="1613671" cy="645468"/>
      </dsp:txXfrm>
    </dsp:sp>
    <dsp:sp modelId="{C51071E5-489C-495F-B308-9CE5B62ECBD8}">
      <dsp:nvSpPr>
        <dsp:cNvPr id="0" name=""/>
        <dsp:cNvSpPr/>
      </dsp:nvSpPr>
      <dsp:spPr>
        <a:xfrm>
          <a:off x="2605050" y="160143"/>
          <a:ext cx="726152" cy="7261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C921A-C049-4C2D-A6A6-561CF6D77EBC}">
      <dsp:nvSpPr>
        <dsp:cNvPr id="0" name=""/>
        <dsp:cNvSpPr/>
      </dsp:nvSpPr>
      <dsp:spPr>
        <a:xfrm>
          <a:off x="2161290" y="1128466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Data Migration errors</a:t>
          </a:r>
          <a:endParaRPr lang="en-US" sz="1500" kern="1200"/>
        </a:p>
      </dsp:txBody>
      <dsp:txXfrm>
        <a:off x="2161290" y="1128466"/>
        <a:ext cx="1613671" cy="645468"/>
      </dsp:txXfrm>
    </dsp:sp>
    <dsp:sp modelId="{6559737E-C98F-4200-B681-7870A994C32E}">
      <dsp:nvSpPr>
        <dsp:cNvPr id="0" name=""/>
        <dsp:cNvSpPr/>
      </dsp:nvSpPr>
      <dsp:spPr>
        <a:xfrm>
          <a:off x="708985" y="2177352"/>
          <a:ext cx="726152" cy="7261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FC054-E400-4C26-856C-48320848197B}">
      <dsp:nvSpPr>
        <dsp:cNvPr id="0" name=""/>
        <dsp:cNvSpPr/>
      </dsp:nvSpPr>
      <dsp:spPr>
        <a:xfrm>
          <a:off x="265225" y="3145676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Integration issues</a:t>
          </a:r>
          <a:endParaRPr lang="en-US" sz="1500" kern="1200"/>
        </a:p>
      </dsp:txBody>
      <dsp:txXfrm>
        <a:off x="265225" y="3145676"/>
        <a:ext cx="1613671" cy="645468"/>
      </dsp:txXfrm>
    </dsp:sp>
    <dsp:sp modelId="{AC6830D0-3B1A-4B3F-964D-40DB96B50EDD}">
      <dsp:nvSpPr>
        <dsp:cNvPr id="0" name=""/>
        <dsp:cNvSpPr/>
      </dsp:nvSpPr>
      <dsp:spPr>
        <a:xfrm>
          <a:off x="2605050" y="2177352"/>
          <a:ext cx="726152" cy="7261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92DF1-3701-4FC9-9536-A39B6987B6F2}">
      <dsp:nvSpPr>
        <dsp:cNvPr id="0" name=""/>
        <dsp:cNvSpPr/>
      </dsp:nvSpPr>
      <dsp:spPr>
        <a:xfrm>
          <a:off x="2161290" y="3145676"/>
          <a:ext cx="1613671" cy="645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Cost Overruns</a:t>
          </a:r>
          <a:endParaRPr lang="en-US" sz="1500" kern="1200"/>
        </a:p>
      </dsp:txBody>
      <dsp:txXfrm>
        <a:off x="2161290" y="3145676"/>
        <a:ext cx="1613671" cy="6454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35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" name="Graphic 15" descr="Users">
            <a:extLst>
              <a:ext uri="{FF2B5EF4-FFF2-40B4-BE49-F238E27FC236}">
                <a16:creationId xmlns:a16="http://schemas.microsoft.com/office/drawing/2014/main" id="{7821E2BD-CAE9-ADB1-071E-B03E03E8A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02735" y="1655170"/>
            <a:ext cx="3547660" cy="354766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4269714" cy="2587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HR Process Optimization at Synergy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787" y="3566809"/>
            <a:ext cx="4269715" cy="3278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US" sz="2000" dirty="0">
                <a:solidFill>
                  <a:schemeClr val="tx2"/>
                </a:solidFill>
              </a:rPr>
              <a:t>Business Case &amp; SDLC Summary</a:t>
            </a:r>
            <a:br>
              <a:rPr lang="en-US" sz="2000" dirty="0">
                <a:solidFill>
                  <a:schemeClr val="tx2"/>
                </a:solidFill>
              </a:rPr>
            </a:br>
            <a:endParaRPr lang="en-US" sz="2000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8650" y="2586789"/>
            <a:ext cx="7886700" cy="3590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rPr lang="en-US" sz="1900" dirty="0"/>
              <a:t>• Global FMCG manufacturer across five continents</a:t>
            </a:r>
            <a:br>
              <a:rPr lang="en-US" sz="1900" dirty="0"/>
            </a:br>
            <a:r>
              <a:rPr lang="en-US" sz="1900" dirty="0"/>
              <a:t>• 75,000+ employees</a:t>
            </a:r>
            <a:br>
              <a:rPr lang="en-US" sz="1900" dirty="0"/>
            </a:br>
            <a:r>
              <a:rPr lang="en-US" sz="1900" dirty="0"/>
              <a:t>• Strategic focus on brand consistency, customer loyalty, and operational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600700" cy="6858000"/>
            <a:chOff x="7467600" y="0"/>
            <a:chExt cx="4724400" cy="68580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27275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990600"/>
            <a:ext cx="84582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676400"/>
            <a:ext cx="285750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Current HR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6203" y="1676400"/>
            <a:ext cx="4229097" cy="350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tx1">
                  <a:alpha val="5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• Fragmented HR systems across regions</a:t>
            </a:r>
            <a:br>
              <a:rPr lang="en-US" sz="2100" dirty="0">
                <a:solidFill>
                  <a:schemeClr val="tx1">
                    <a:alpha val="55000"/>
                  </a:schemeClr>
                </a:solidFill>
              </a:rPr>
            </a:b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• Manual and error-prone processes</a:t>
            </a:r>
            <a:br>
              <a:rPr lang="en-US" sz="2100" dirty="0">
                <a:solidFill>
                  <a:schemeClr val="tx1">
                    <a:alpha val="55000"/>
                  </a:schemeClr>
                </a:solidFill>
              </a:rPr>
            </a:b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• Lack of global workforce insights</a:t>
            </a:r>
            <a:br>
              <a:rPr lang="en-US" sz="2100" dirty="0">
                <a:solidFill>
                  <a:schemeClr val="tx1">
                    <a:alpha val="55000"/>
                  </a:schemeClr>
                </a:solidFill>
              </a:rPr>
            </a:b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• High IT maintenance costs</a:t>
            </a:r>
            <a:br>
              <a:rPr lang="en-US" sz="2100" dirty="0">
                <a:solidFill>
                  <a:schemeClr val="tx1">
                    <a:alpha val="55000"/>
                  </a:schemeClr>
                </a:solidFill>
              </a:rPr>
            </a:br>
            <a:r>
              <a:rPr lang="en-US" sz="2100" dirty="0">
                <a:solidFill>
                  <a:schemeClr val="tx1">
                    <a:alpha val="55000"/>
                  </a:schemeClr>
                </a:solidFill>
              </a:rPr>
              <a:t>• Compliance and data privacy risks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39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Cloud shaped hard drive with cables">
            <a:extLst>
              <a:ext uri="{FF2B5EF4-FFF2-40B4-BE49-F238E27FC236}">
                <a16:creationId xmlns:a16="http://schemas.microsoft.com/office/drawing/2014/main" id="{8FAAF760-6208-1A07-755E-DD88C4EE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668" b="1"/>
          <a:stretch>
            <a:fillRect/>
          </a:stretch>
        </p:blipFill>
        <p:spPr>
          <a:xfrm>
            <a:off x="5102735" y="2098618"/>
            <a:ext cx="3547660" cy="2660764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9" name="Freeform: Shape 43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4269714" cy="2587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735" y="3566809"/>
            <a:ext cx="5082000" cy="3278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rPr lang="en-US" sz="2400" dirty="0">
                <a:solidFill>
                  <a:schemeClr val="tx2"/>
                </a:solidFill>
              </a:rPr>
              <a:t>Implement a unified, cloud-based HR system (SAP SuccessFactors) to centralize HR data, automate processes, and enhance compliance and employee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6D6B9-02B6-173F-742A-296CAA798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200">
                <a:solidFill>
                  <a:srgbClr val="FFFFFF"/>
                </a:solidFill>
              </a:rPr>
              <a:t>Proposed solution and Review of Options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385DE7-068C-77B1-30F7-168FF74671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882745"/>
              </p:ext>
            </p:extLst>
          </p:nvPr>
        </p:nvGraphicFramePr>
        <p:xfrm>
          <a:off x="483042" y="2240328"/>
          <a:ext cx="8195872" cy="39373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6619">
                  <a:extLst>
                    <a:ext uri="{9D8B030D-6E8A-4147-A177-3AD203B41FA5}">
                      <a16:colId xmlns:a16="http://schemas.microsoft.com/office/drawing/2014/main" val="358220095"/>
                    </a:ext>
                  </a:extLst>
                </a:gridCol>
                <a:gridCol w="3231600">
                  <a:extLst>
                    <a:ext uri="{9D8B030D-6E8A-4147-A177-3AD203B41FA5}">
                      <a16:colId xmlns:a16="http://schemas.microsoft.com/office/drawing/2014/main" val="1341429573"/>
                    </a:ext>
                  </a:extLst>
                </a:gridCol>
                <a:gridCol w="3127653">
                  <a:extLst>
                    <a:ext uri="{9D8B030D-6E8A-4147-A177-3AD203B41FA5}">
                      <a16:colId xmlns:a16="http://schemas.microsoft.com/office/drawing/2014/main" val="1410931585"/>
                    </a:ext>
                  </a:extLst>
                </a:gridCol>
              </a:tblGrid>
              <a:tr h="445192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effectLst/>
                        </a:rPr>
                        <a:t>Option</a:t>
                      </a:r>
                      <a:endParaRPr lang="en-GB" sz="2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9823" marR="59823" marT="39882" marB="3988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effectLst/>
                        </a:rPr>
                        <a:t>Description</a:t>
                      </a:r>
                      <a:endParaRPr lang="en-GB" sz="2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9823" marR="59823" marT="39882" marB="3988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effectLst/>
                        </a:rPr>
                        <a:t>Evaluation</a:t>
                      </a:r>
                      <a:endParaRPr lang="en-GB" sz="2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9823" marR="59823" marT="39882" marB="39882"/>
                </a:tc>
                <a:extLst>
                  <a:ext uri="{0D108BD9-81ED-4DB2-BD59-A6C34878D82A}">
                    <a16:rowId xmlns:a16="http://schemas.microsoft.com/office/drawing/2014/main" val="542268692"/>
                  </a:ext>
                </a:extLst>
              </a:tr>
              <a:tr h="1164039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effectLst/>
                        </a:rPr>
                        <a:t>Oracle Fusion HCM</a:t>
                      </a:r>
                      <a:endParaRPr lang="en-GB" sz="2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9823" marR="59823" marT="39882" marB="3988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effectLst/>
                        </a:rPr>
                        <a:t>Strong HR features, but higher cost and longer deployment</a:t>
                      </a:r>
                      <a:endParaRPr lang="en-GB" sz="2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9823" marR="59823" marT="39882" marB="3988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effectLst/>
                        </a:rPr>
                        <a:t>8/10</a:t>
                      </a:r>
                      <a:endParaRPr lang="en-GB" sz="2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9823" marR="59823" marT="39882" marB="39882"/>
                </a:tc>
                <a:extLst>
                  <a:ext uri="{0D108BD9-81ED-4DB2-BD59-A6C34878D82A}">
                    <a16:rowId xmlns:a16="http://schemas.microsoft.com/office/drawing/2014/main" val="643799360"/>
                  </a:ext>
                </a:extLst>
              </a:tr>
              <a:tr h="1164039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effectLst/>
                        </a:rPr>
                        <a:t>Workday HCM</a:t>
                      </a:r>
                      <a:endParaRPr lang="en-GB" sz="2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9823" marR="59823" marT="39882" marB="3988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effectLst/>
                        </a:rPr>
                        <a:t>Modern and user-friendly, but limited regional compliance support</a:t>
                      </a:r>
                      <a:endParaRPr lang="en-GB" sz="2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9823" marR="59823" marT="39882" marB="3988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effectLst/>
                        </a:rPr>
                        <a:t>8.5/10</a:t>
                      </a:r>
                      <a:endParaRPr lang="en-GB" sz="2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9823" marR="59823" marT="39882" marB="39882"/>
                </a:tc>
                <a:extLst>
                  <a:ext uri="{0D108BD9-81ED-4DB2-BD59-A6C34878D82A}">
                    <a16:rowId xmlns:a16="http://schemas.microsoft.com/office/drawing/2014/main" val="3615669855"/>
                  </a:ext>
                </a:extLst>
              </a:tr>
              <a:tr h="1164039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effectLst/>
                        </a:rPr>
                        <a:t>SAP SuccessFactors</a:t>
                      </a:r>
                      <a:endParaRPr lang="en-GB" sz="2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9823" marR="59823" marT="39882" marB="3988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effectLst/>
                        </a:rPr>
                        <a:t>Comprehensive, global, proven for large enterprises</a:t>
                      </a:r>
                      <a:endParaRPr lang="en-GB" sz="2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9823" marR="59823" marT="39882" marB="39882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effectLst/>
                        </a:rPr>
                        <a:t>9.5/10 (Selected)</a:t>
                      </a:r>
                      <a:endParaRPr lang="en-GB" sz="2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9823" marR="59823" marT="39882" marB="39882"/>
                </a:tc>
                <a:extLst>
                  <a:ext uri="{0D108BD9-81ED-4DB2-BD59-A6C34878D82A}">
                    <a16:rowId xmlns:a16="http://schemas.microsoft.com/office/drawing/2014/main" val="1743850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2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943" y="991261"/>
            <a:ext cx="4316022" cy="18373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Proposed Solution – SAP SuccessFactors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7804" y="2979336"/>
            <a:ext cx="8436634" cy="33989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rPr lang="en-US" sz="3600" dirty="0">
                <a:solidFill>
                  <a:schemeClr val="tx2"/>
                </a:solidFill>
              </a:rPr>
              <a:t>Implement SAP SuccessFactors Global HR Suite to integrate all HR functions (Core HR, Payroll, Recruitment, Performance, Learning) under a single platform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endParaRPr lang="en-US" sz="1700" dirty="0">
              <a:solidFill>
                <a:schemeClr val="tx2"/>
              </a:solidFill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Expected Benefits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3200" dirty="0"/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rPr lang="en-US" sz="3200" dirty="0"/>
              <a:t>• 30% reduction in HR operational costs</a:t>
            </a:r>
            <a:br>
              <a:rPr lang="en-US" sz="3200" dirty="0"/>
            </a:br>
            <a:r>
              <a:rPr lang="en-US" sz="3200" dirty="0"/>
              <a:t>• 50% reduction in manual HR errors</a:t>
            </a:r>
            <a:br>
              <a:rPr lang="en-US" sz="3200" dirty="0"/>
            </a:br>
            <a:r>
              <a:rPr lang="en-US" sz="3200" dirty="0"/>
              <a:t>• Unified employee database</a:t>
            </a:r>
            <a:br>
              <a:rPr lang="en-US" sz="3200" dirty="0"/>
            </a:br>
            <a:r>
              <a:rPr lang="en-US" sz="3200" dirty="0"/>
              <a:t>• Improved compliance and reporting</a:t>
            </a:r>
            <a:br>
              <a:rPr lang="en-US" sz="3200" dirty="0"/>
            </a:br>
            <a:r>
              <a:rPr lang="en-US" sz="3200" dirty="0"/>
              <a:t>• Better employee satisfaction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B2C8B8-5678-A46F-53BA-FEF4B4213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667" y="637763"/>
            <a:ext cx="3233024" cy="1627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Financial Analysis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6667" y="2372156"/>
            <a:ext cx="3429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29840B8-59A9-80D4-78E7-31E94C09A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66667" y="2581065"/>
            <a:ext cx="3213312" cy="3633467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700">
                <a:solidFill>
                  <a:schemeClr val="bg1"/>
                </a:solidFill>
              </a:rPr>
              <a:t>Expected Financial Gains:</a:t>
            </a:r>
            <a:br>
              <a:rPr lang="en-US" altLang="en-US" sz="1700">
                <a:solidFill>
                  <a:schemeClr val="bg1"/>
                </a:solidFill>
              </a:rPr>
            </a:br>
            <a:r>
              <a:rPr lang="en-US" altLang="en-US" sz="1700">
                <a:solidFill>
                  <a:schemeClr val="bg1"/>
                </a:solidFill>
              </a:rPr>
              <a:t>- Annual savings of approx. $2 million from reduced manual work and system maintenance</a:t>
            </a:r>
            <a:br>
              <a:rPr lang="en-US" altLang="en-US" sz="1700">
                <a:solidFill>
                  <a:schemeClr val="bg1"/>
                </a:solidFill>
              </a:rPr>
            </a:br>
            <a:r>
              <a:rPr lang="en-US" altLang="en-US" sz="1700">
                <a:solidFill>
                  <a:schemeClr val="bg1"/>
                </a:solidFill>
              </a:rPr>
              <a:t>- Payback period: 2 years</a:t>
            </a:r>
            <a:br>
              <a:rPr lang="en-US" altLang="en-US" sz="1700">
                <a:solidFill>
                  <a:schemeClr val="bg1"/>
                </a:solidFill>
              </a:rPr>
            </a:br>
            <a:r>
              <a:rPr lang="en-US" altLang="en-US" sz="1700">
                <a:solidFill>
                  <a:schemeClr val="bg1"/>
                </a:solidFill>
              </a:rPr>
              <a:t>- ROI = 39.5% (based on net gains after 2 years)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0A401A-EC99-904F-DF77-AA876915CA7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69543627"/>
              </p:ext>
            </p:extLst>
          </p:nvPr>
        </p:nvGraphicFramePr>
        <p:xfrm>
          <a:off x="5054598" y="1095102"/>
          <a:ext cx="3229419" cy="4662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119">
                  <a:extLst>
                    <a:ext uri="{9D8B030D-6E8A-4147-A177-3AD203B41FA5}">
                      <a16:colId xmlns:a16="http://schemas.microsoft.com/office/drawing/2014/main" val="2476484537"/>
                    </a:ext>
                  </a:extLst>
                </a:gridCol>
                <a:gridCol w="1309300">
                  <a:extLst>
                    <a:ext uri="{9D8B030D-6E8A-4147-A177-3AD203B41FA5}">
                      <a16:colId xmlns:a16="http://schemas.microsoft.com/office/drawing/2014/main" val="3592242197"/>
                    </a:ext>
                  </a:extLst>
                </a:gridCol>
              </a:tblGrid>
              <a:tr h="679061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700" b="1">
                          <a:effectLst/>
                        </a:rPr>
                        <a:t>Cost Item</a:t>
                      </a:r>
                      <a:endParaRPr lang="en-GB" sz="1700" b="1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926" marR="57926" marT="38617" marB="38617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700" b="1">
                          <a:effectLst/>
                        </a:rPr>
                        <a:t>Estimated Cost (USD)</a:t>
                      </a:r>
                      <a:endParaRPr lang="en-GB" sz="1700" b="1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926" marR="57926" marT="38617" marB="38617"/>
                </a:tc>
                <a:extLst>
                  <a:ext uri="{0D108BD9-81ED-4DB2-BD59-A6C34878D82A}">
                    <a16:rowId xmlns:a16="http://schemas.microsoft.com/office/drawing/2014/main" val="4076643008"/>
                  </a:ext>
                </a:extLst>
              </a:tr>
              <a:tr h="972925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700">
                          <a:effectLst/>
                        </a:rPr>
                        <a:t>Software Licensing (SAP SuccessFactors)</a:t>
                      </a:r>
                      <a:endParaRPr lang="en-GB" sz="17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926" marR="57926" marT="38617" marB="38617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700">
                          <a:effectLst/>
                        </a:rPr>
                        <a:t>$2,000,000</a:t>
                      </a:r>
                      <a:endParaRPr lang="en-GB" sz="17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926" marR="57926" marT="38617" marB="38617"/>
                </a:tc>
                <a:extLst>
                  <a:ext uri="{0D108BD9-81ED-4DB2-BD59-A6C34878D82A}">
                    <a16:rowId xmlns:a16="http://schemas.microsoft.com/office/drawing/2014/main" val="1780235073"/>
                  </a:ext>
                </a:extLst>
              </a:tr>
              <a:tr h="679061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700">
                          <a:effectLst/>
                        </a:rPr>
                        <a:t>Implementation &amp; Integration</a:t>
                      </a:r>
                      <a:endParaRPr lang="en-GB" sz="17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926" marR="57926" marT="38617" marB="38617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700">
                          <a:effectLst/>
                        </a:rPr>
                        <a:t>$1,500,000</a:t>
                      </a:r>
                      <a:endParaRPr lang="en-GB" sz="17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926" marR="57926" marT="38617" marB="38617"/>
                </a:tc>
                <a:extLst>
                  <a:ext uri="{0D108BD9-81ED-4DB2-BD59-A6C34878D82A}">
                    <a16:rowId xmlns:a16="http://schemas.microsoft.com/office/drawing/2014/main" val="1863272359"/>
                  </a:ext>
                </a:extLst>
              </a:tr>
              <a:tr h="679061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700">
                          <a:effectLst/>
                        </a:rPr>
                        <a:t>Training &amp; Change Management</a:t>
                      </a:r>
                      <a:endParaRPr lang="en-GB" sz="17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926" marR="57926" marT="38617" marB="38617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700">
                          <a:effectLst/>
                        </a:rPr>
                        <a:t>$500,000</a:t>
                      </a:r>
                      <a:endParaRPr lang="en-GB" sz="17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926" marR="57926" marT="38617" marB="38617"/>
                </a:tc>
                <a:extLst>
                  <a:ext uri="{0D108BD9-81ED-4DB2-BD59-A6C34878D82A}">
                    <a16:rowId xmlns:a16="http://schemas.microsoft.com/office/drawing/2014/main" val="3675108479"/>
                  </a:ext>
                </a:extLst>
              </a:tr>
              <a:tr h="972925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700">
                          <a:effectLst/>
                        </a:rPr>
                        <a:t>Support &amp; Maintenance (Annual)</a:t>
                      </a:r>
                      <a:endParaRPr lang="en-GB" sz="17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926" marR="57926" marT="38617" marB="38617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700">
                          <a:effectLst/>
                        </a:rPr>
                        <a:t>$300,000</a:t>
                      </a:r>
                      <a:endParaRPr lang="en-GB" sz="17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926" marR="57926" marT="38617" marB="38617"/>
                </a:tc>
                <a:extLst>
                  <a:ext uri="{0D108BD9-81ED-4DB2-BD59-A6C34878D82A}">
                    <a16:rowId xmlns:a16="http://schemas.microsoft.com/office/drawing/2014/main" val="744290536"/>
                  </a:ext>
                </a:extLst>
              </a:tr>
              <a:tr h="679061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700">
                          <a:effectLst/>
                        </a:rPr>
                        <a:t>Total Project Investment</a:t>
                      </a:r>
                      <a:endParaRPr lang="en-GB" sz="17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926" marR="57926" marT="38617" marB="38617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GB" sz="1700">
                          <a:effectLst/>
                        </a:rPr>
                        <a:t>$4.3 million</a:t>
                      </a:r>
                      <a:endParaRPr lang="en-GB" sz="17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926" marR="57926" marT="38617" marB="38617"/>
                </a:tc>
                <a:extLst>
                  <a:ext uri="{0D108BD9-81ED-4DB2-BD59-A6C34878D82A}">
                    <a16:rowId xmlns:a16="http://schemas.microsoft.com/office/drawing/2014/main" val="3764817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010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9F87D-BECF-4A3B-0B43-FFF83E726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GB" sz="3500">
                <a:solidFill>
                  <a:schemeClr val="bg1"/>
                </a:solidFill>
              </a:rPr>
              <a:t>Implementation Plan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2F4C6-4960-90F4-0CBC-57157F097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81" y="2010758"/>
            <a:ext cx="8087549" cy="466608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90000"/>
              </a:lnSpc>
              <a:buNone/>
            </a:pPr>
            <a:endParaRPr lang="en-GB" sz="1800" b="1" dirty="0"/>
          </a:p>
          <a:p>
            <a:pPr>
              <a:lnSpc>
                <a:spcPct val="90000"/>
              </a:lnSpc>
            </a:pPr>
            <a:r>
              <a:rPr lang="en-GB" sz="2400" dirty="0"/>
              <a:t>Duration: 9 months</a:t>
            </a:r>
            <a:br>
              <a:rPr lang="en-GB" sz="2400" dirty="0"/>
            </a:br>
            <a:r>
              <a:rPr lang="en-GB" sz="2400" dirty="0"/>
              <a:t>Methodology: Agile SDLC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Phases:</a:t>
            </a:r>
            <a:br>
              <a:rPr lang="en-GB" sz="2400" dirty="0"/>
            </a:br>
            <a:r>
              <a:rPr lang="en-GB" sz="2400" dirty="0"/>
              <a:t>1. Initiation &amp; Planning (Month 1) – Stakeholder alignment, project approval</a:t>
            </a:r>
            <a:br>
              <a:rPr lang="en-GB" sz="2400" dirty="0"/>
            </a:br>
            <a:r>
              <a:rPr lang="en-GB" sz="2400" dirty="0"/>
              <a:t>2. Requirement Gathering (Months 2–3) – Business process mapping, system specifications</a:t>
            </a:r>
            <a:br>
              <a:rPr lang="en-GB" sz="2400" dirty="0"/>
            </a:br>
            <a:r>
              <a:rPr lang="en-GB" sz="2400" dirty="0"/>
              <a:t>3. System Design &amp; Configuration (Months 4–6) – SAP setup and customization</a:t>
            </a:r>
            <a:br>
              <a:rPr lang="en-GB" sz="2400" dirty="0"/>
            </a:br>
            <a:r>
              <a:rPr lang="en-GB" sz="2400" dirty="0"/>
              <a:t>4. Testing &amp; Data Migration (Months 7–8) – Pilot testing and regional migration</a:t>
            </a:r>
            <a:br>
              <a:rPr lang="en-GB" sz="2400" dirty="0"/>
            </a:br>
            <a:r>
              <a:rPr lang="en-GB" sz="2400" dirty="0"/>
              <a:t>5. Training &amp; Deployment (Month 9) – Staff training and full rollout</a:t>
            </a:r>
            <a:br>
              <a:rPr lang="en-GB" sz="2400" dirty="0"/>
            </a:b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58303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351A4-0083-E3E1-5BE7-44FDA1AED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and Mitigation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37F20-7B5A-4040-2B5E-DBC86687F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Risk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EB18CC5-1966-879C-0816-6F740B1053A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57200" y="2174875"/>
          <a:ext cx="4040188" cy="395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93BB7-F7EF-15F4-8DC9-BD07A180D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Mitigation Strategy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1C7312-DD75-9498-E579-7946913C7FB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Conduct awareness and training programs</a:t>
            </a:r>
          </a:p>
          <a:p>
            <a:r>
              <a:rPr lang="en-GB" dirty="0"/>
              <a:t>Perform phased migration and data validation</a:t>
            </a:r>
          </a:p>
          <a:p>
            <a:r>
              <a:rPr lang="en-GB" dirty="0"/>
              <a:t>Use experienced SAP implementation partner</a:t>
            </a:r>
          </a:p>
          <a:p>
            <a:r>
              <a:rPr lang="en-GB" dirty="0"/>
              <a:t>Monitor budget through Agile sprints and milestones</a:t>
            </a:r>
          </a:p>
        </p:txBody>
      </p:sp>
    </p:spTree>
    <p:extLst>
      <p:ext uri="{BB962C8B-B14F-4D97-AF65-F5344CB8AC3E}">
        <p14:creationId xmlns:p14="http://schemas.microsoft.com/office/powerpoint/2010/main" val="2506714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6"/>
            <a:ext cx="6056111" cy="69128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930" y="2969469"/>
            <a:ext cx="6056111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 dirty="0"/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endParaRPr lang="en-US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5FBD6-459D-D475-DD0B-5E2B53411017}"/>
              </a:ext>
            </a:extLst>
          </p:cNvPr>
          <p:cNvSpPr txBox="1"/>
          <p:nvPr/>
        </p:nvSpPr>
        <p:spPr>
          <a:xfrm>
            <a:off x="721350" y="1779659"/>
            <a:ext cx="7458720" cy="4472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  <a:buNone/>
            </a:pPr>
            <a:r>
              <a:rPr lang="en-GB" sz="2800" dirty="0">
                <a:effectLst/>
                <a:latin typeface="Cambria" panose="02040503050406030204" pitchFamily="18" charset="0"/>
                <a:ea typeface="ＭＳ 明朝" panose="02020609040205080304" pitchFamily="49" charset="-128"/>
                <a:cs typeface="Times New Roman" panose="02020603050405020304" pitchFamily="18" charset="0"/>
              </a:rPr>
              <a:t>The proposed implementation of SAP SuccessFactors will modernize HR operations at Synergy Enterprises, creating a unified global HR platform that enhances efficiency, compliance, and employee engagement. We request project approval and funding of $4.3 million to execute the 9-month rollout and deliver measurable operational improvements within two years.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2762</TotalTime>
  <Words>522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HR Process Optimization at Synergy Enterprises</vt:lpstr>
      <vt:lpstr>Company Overview</vt:lpstr>
      <vt:lpstr>Current HR Challenges</vt:lpstr>
      <vt:lpstr>Project Objective</vt:lpstr>
      <vt:lpstr>Proposed solution and Review of Options</vt:lpstr>
      <vt:lpstr>Proposed Solution – SAP SuccessFactors</vt:lpstr>
      <vt:lpstr>Expected Benefits</vt:lpstr>
      <vt:lpstr>Financial Analysis</vt:lpstr>
      <vt:lpstr>Implementation Plan</vt:lpstr>
      <vt:lpstr>Risk and Mitigation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Sethlyn Tetteh</cp:lastModifiedBy>
  <cp:revision>5</cp:revision>
  <dcterms:created xsi:type="dcterms:W3CDTF">2013-01-27T09:14:16Z</dcterms:created>
  <dcterms:modified xsi:type="dcterms:W3CDTF">2026-01-19T18:00:07Z</dcterms:modified>
  <cp:category/>
</cp:coreProperties>
</file>